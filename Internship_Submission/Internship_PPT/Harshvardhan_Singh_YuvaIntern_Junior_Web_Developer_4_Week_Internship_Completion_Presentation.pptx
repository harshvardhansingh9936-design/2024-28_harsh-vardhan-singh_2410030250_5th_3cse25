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A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65176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B9DBFF"/>
                </a:solidFill>
                <a:latin typeface="Aptos"/>
              </a:rPr>
              <a:t>YuvaIntern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788920" cy="11430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4-Week Internship</a:t>
            </a:r>
            <a:br/>
            <a:r>
              <a:t>Completion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2743200" cy="7772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1ECF8"/>
                </a:solidFill>
                <a:latin typeface="Aptos"/>
              </a:rPr>
              <a:t>Junior Web Developer</a:t>
            </a:r>
            <a:br/>
            <a:r>
              <a:t>E-Governance &amp; Digital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170432"/>
            <a:ext cx="6766560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JanSeva Digital Service Platform (JSDSP)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810512"/>
            <a:ext cx="6629400" cy="6858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5D6B82"/>
                </a:solidFill>
                <a:latin typeface="Aptos"/>
              </a:rPr>
              <a:t>From project planning → responsive prototype → QA strategy → performance, accessibility &amp; security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88920"/>
            <a:ext cx="1444752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916936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300984"/>
            <a:ext cx="1170432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788920"/>
            <a:ext cx="1444752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916936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300984"/>
            <a:ext cx="1170432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PROTOTYPE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27264" y="2788920"/>
            <a:ext cx="1444752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2916936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136" y="3300984"/>
            <a:ext cx="1170432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0616" y="2788920"/>
            <a:ext cx="1444752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916936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3300984"/>
            <a:ext cx="1170432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773168"/>
            <a:ext cx="38404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Harshvardhan Singh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184648"/>
            <a:ext cx="411480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BTech CSE • Session 2024–28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5650992"/>
            <a:ext cx="640080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D6B82"/>
                </a:solidFill>
                <a:latin typeface="Aptos"/>
              </a:rPr>
              <a:t>Internship period: 07 Aug 2026 – 04 Sep 2026 • Remote • 4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Internship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A four-week progression from an e-governance blueprint to an evidence-based prototype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516636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9487"/>
                </a:solidFill>
                <a:latin typeface="Aptos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470916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YuvaIntern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16636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91056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9487"/>
                </a:solidFill>
                <a:latin typeface="Aptos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56232"/>
            <a:ext cx="470916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Junior Web Developer – E-Governance &amp; Digital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61488"/>
            <a:ext cx="516636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9504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9487"/>
                </a:solidFill>
                <a:latin typeface="Aptos"/>
              </a:rPr>
              <a:t>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470916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07 Aug 2026 – 04 Sep 2026 • 4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61488"/>
            <a:ext cx="516636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889504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9487"/>
                </a:solidFill>
                <a:latin typeface="Aptos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54680"/>
            <a:ext cx="470916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JanSeva Digital Service Platform (JSDSP)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59935"/>
            <a:ext cx="516636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87951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9487"/>
                </a:solidFill>
                <a:latin typeface="Aptos"/>
              </a:rPr>
              <a:t>PRIMARY DELIVERABLE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53127"/>
            <a:ext cx="470916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Citizen-facing digital service prototype + QA/audit documentation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059935"/>
            <a:ext cx="516636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187951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9487"/>
                </a:solidFill>
                <a:latin typeface="Aptos"/>
              </a:rPr>
              <a:t>REPRESENTATIVE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53127"/>
            <a:ext cx="470916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Income Certificate • prototype / demonstration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742432"/>
            <a:ext cx="65836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5D6B82"/>
                </a:solidFill>
                <a:latin typeface="Aptos"/>
              </a:rPr>
              <a:t>Verified internship details are stated in the offer letter, including the four-week duration and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The 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What JanSeva is designed to make easier for citizens and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4008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57150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72033"/>
                </a:solidFill>
                <a:latin typeface="Aptos"/>
              </a:rPr>
              <a:t>A single digital front door for routine public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5623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• Citizens discover services, understand eligibility, apply, upload documents, track requests, receive notifications and raise grievances.</a:t>
            </a:r>
          </a:p>
          <a:p>
            <a:pPr>
              <a:spcAft>
                <a:spcPts val="6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• Departments get reusable building blocks for workflow, case management, dashboards, audit trails and integrations.</a:t>
            </a:r>
          </a:p>
          <a:p>
            <a:pPr>
              <a:spcAft>
                <a:spcPts val="6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• Design priorities: simplicity, inclusion, transparency, interoperability, trust &amp; security, and continuous improvement.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53712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9487"/>
                </a:solidFill>
                <a:latin typeface="Aptos"/>
              </a:rPr>
              <a:t>Planning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28032"/>
            <a:ext cx="5486400" cy="60350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5D6B82"/>
                </a:solidFill>
                <a:latin typeface="Aptos"/>
              </a:rPr>
              <a:t>14 functional requirements • 11 non-functional quality attributes • 6 personas • 11-step citizen journey • roadmap • risk 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417320"/>
            <a:ext cx="43434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719072"/>
            <a:ext cx="34747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Citizen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2331720"/>
            <a:ext cx="3520440" cy="1874519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A2F54"/>
                </a:solidFill>
                <a:latin typeface="Aptos"/>
              </a:rPr>
              <a:t>Discover → Understand → Sign in → Apply → Attach → Submit → Process → Notify → Decide → Complete →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4526280"/>
            <a:ext cx="3429000" cy="9144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D6B82"/>
                </a:solidFill>
                <a:latin typeface="Aptos"/>
              </a:rPr>
              <a:t>Week 1 establishes the full service model; later weeks narrow into the demonstrable prototype and then validate its quality posture.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Four-Week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The internship progressed as one traceable engineering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542032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10512"/>
            <a:ext cx="8229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6400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23160"/>
            <a:ext cx="2121408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44368"/>
            <a:ext cx="2176272" cy="1508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5D6B82"/>
                </a:solidFill>
                <a:latin typeface="Aptos"/>
              </a:rPr>
              <a:t>Vision, research, requirements, personas, architecture, roadmap and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3017520"/>
            <a:ext cx="256032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1948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600200"/>
            <a:ext cx="2542032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1810512"/>
            <a:ext cx="822960" cy="384048"/>
          </a:xfrm>
          <a:prstGeom prst="round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847088"/>
            <a:ext cx="6400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423160"/>
            <a:ext cx="2121408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944368"/>
            <a:ext cx="2176272" cy="1508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5D6B82"/>
                </a:solidFill>
                <a:latin typeface="Aptos"/>
              </a:rPr>
              <a:t>Information architecture, wireframes, high-fidelity screens and responsive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017520"/>
            <a:ext cx="256032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1948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600200"/>
            <a:ext cx="2542032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1810512"/>
            <a:ext cx="822960" cy="384048"/>
          </a:xfrm>
          <a:prstGeom prst="roundRect">
            <a:avLst/>
          </a:prstGeom>
          <a:solidFill>
            <a:srgbClr val="0A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847088"/>
            <a:ext cx="6400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423160"/>
            <a:ext cx="2121408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944368"/>
            <a:ext cx="2176272" cy="1508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5D6B82"/>
                </a:solidFill>
                <a:latin typeface="Aptos"/>
              </a:rPr>
              <a:t>Test levels, traceability, 10 test cases, automation, defect process and exit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017520"/>
            <a:ext cx="256032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1948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3416" y="1600200"/>
            <a:ext cx="2542032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0576" y="1810512"/>
            <a:ext cx="822960" cy="384048"/>
          </a:xfrm>
          <a:prstGeom prst="roundRect">
            <a:avLst/>
          </a:prstGeom>
          <a:solidFill>
            <a:srgbClr val="BD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1847088"/>
            <a:ext cx="6400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2423160"/>
            <a:ext cx="2121408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2944368"/>
            <a:ext cx="2176272" cy="1508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5D6B82"/>
                </a:solidFill>
                <a:latin typeface="Aptos"/>
              </a:rPr>
              <a:t>Performance, WCAG 2.2, OWASP-aligned security review and prioritized remediation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14416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230" b="1">
                <a:solidFill>
                  <a:srgbClr val="172033"/>
                </a:solidFill>
                <a:latin typeface="Aptos"/>
              </a:rPr>
              <a:t>Traceability mattered throughout: each later week explicitly carries forward scope, terminology, evidence and limitations from the earlier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1 — Planning &amp; 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The foundation for a reusable e-governance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e17838c65b35aca1c4235c8558a318c7be90418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3063240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417320"/>
            <a:ext cx="3063240" cy="420624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50208" y="1417320"/>
            <a:ext cx="7635240" cy="4206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673352"/>
            <a:ext cx="685800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Aptos"/>
              </a:rPr>
              <a:t>What was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212848"/>
            <a:ext cx="6812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Citizen-centered vision: make routine services understandable, accessible, trackable and secure from one digital front door.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Functional requirements across discovery, identity, applications, documents, workflow, status, payments, notifications, grievance, admin, reporting, integration, audit and assisted service.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Non-functional targets for performance, availability, security, privacy, accessibility, usability, scalability, interoperability, observability, maintainability and resilience.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Proposed architecture: responsive web app, modular APIs, identity integration, database/object storage, workflow, observability and CI/CD.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Delivery roadmap from discovery to Alpha, Beta, Pilot and Scale, with governance and risk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507492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9487"/>
                </a:solidFill>
                <a:latin typeface="Aptos"/>
              </a:rPr>
              <a:t>Key planning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5376672"/>
            <a:ext cx="667512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0A2F54"/>
                </a:solidFill>
                <a:latin typeface="Aptos"/>
              </a:rPr>
              <a:t>14 FRs • 11 NFRs • 6 personas • 11-step journey • 10 risks • MVP acceptance criteria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2 — Responsive Citizen Service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Turning the plan into a concrete interface for one complete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ef3a18af775758eb35807c47d8a2f7e2c2300e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44752"/>
            <a:ext cx="507492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3504" y="1444752"/>
            <a:ext cx="5074920" cy="20574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480b64582ee6ff6e629f0e787bce7bb69c9758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444752"/>
            <a:ext cx="278892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25312" y="1444752"/>
            <a:ext cx="2788920" cy="20574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3cd8828cbdc82e8df2a5f4cc82cb4463d6a525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1444752"/>
            <a:ext cx="2697480" cy="2057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887968" y="1444752"/>
            <a:ext cx="2697480" cy="20574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3721608"/>
            <a:ext cx="1097280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86784"/>
            <a:ext cx="201168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Prototype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07408"/>
            <a:ext cx="4800600" cy="6583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10" b="0">
                <a:solidFill>
                  <a:srgbClr val="5D6B82"/>
                </a:solidFill>
                <a:latin typeface="Aptos"/>
              </a:rPr>
              <a:t>Ten screens across discovery, authentication, application, review, confirmation, status and support, plus an optional officer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3986784"/>
            <a:ext cx="210312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Responsive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407408"/>
            <a:ext cx="4572000" cy="7863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10" b="0">
                <a:solidFill>
                  <a:srgbClr val="5D6B82"/>
                </a:solidFill>
                <a:latin typeface="Aptos"/>
              </a:rPr>
              <a:t>Desktop 1440px • Tablet 768px • Mobile 390px</a:t>
            </a:r>
            <a:br/>
            <a:r>
              <a:t>4→2→1 column grids • single-column mobile forms • compact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59552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BD7600"/>
                </a:solidFill>
                <a:latin typeface="Aptos"/>
              </a:rPr>
              <a:t>Prototype boundary: mock/static data; no production backend, identity provider, payment gateway or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2 — Key UI/UX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A reusable, service-first interface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7f1ee04b54aa5ba07a87bdbd2dd3b6d9ac6fb0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44752"/>
            <a:ext cx="2542032" cy="2971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444752"/>
            <a:ext cx="2542032" cy="29718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489704"/>
            <a:ext cx="254203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72033"/>
                </a:solidFill>
                <a:latin typeface="Aptos"/>
              </a:rPr>
              <a:t>Service details</a:t>
            </a:r>
          </a:p>
        </p:txBody>
      </p:sp>
      <p:pic>
        <p:nvPicPr>
          <p:cNvPr id="11" name="Picture 10" descr="09abfb7e2d2574b56ede22c7caee6c54b499e7c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444752"/>
            <a:ext cx="2542032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10712" y="1444752"/>
            <a:ext cx="2542032" cy="29718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4489704"/>
            <a:ext cx="254203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72033"/>
                </a:solidFill>
                <a:latin typeface="Aptos"/>
              </a:rPr>
              <a:t>Application form</a:t>
            </a:r>
          </a:p>
        </p:txBody>
      </p:sp>
      <p:pic>
        <p:nvPicPr>
          <p:cNvPr id="14" name="Picture 13" descr="29193e597e125d731aae936645f18be2ccf9ce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444752"/>
            <a:ext cx="2542032" cy="2971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27064" y="1444752"/>
            <a:ext cx="2542032" cy="29718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4489704"/>
            <a:ext cx="254203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72033"/>
                </a:solidFill>
                <a:latin typeface="Aptos"/>
              </a:rPr>
              <a:t>Review &amp; submit</a:t>
            </a:r>
          </a:p>
        </p:txBody>
      </p:sp>
      <p:pic>
        <p:nvPicPr>
          <p:cNvPr id="17" name="Picture 16" descr="3165e304339ea275ea25634e20f80a925568c49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444752"/>
            <a:ext cx="2542032" cy="29718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043416" y="1444752"/>
            <a:ext cx="2542032" cy="29718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4489704"/>
            <a:ext cx="254203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72033"/>
                </a:solidFill>
                <a:latin typeface="Aptos"/>
              </a:rPr>
              <a:t>Officer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83480"/>
            <a:ext cx="1097280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30368"/>
            <a:ext cx="14173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19487"/>
                </a:solidFill>
                <a:latin typeface="Aptos"/>
              </a:rPr>
              <a:t>Design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157216"/>
            <a:ext cx="886968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60" b="1">
                <a:solidFill>
                  <a:srgbClr val="172033"/>
                </a:solidFill>
                <a:latin typeface="Aptos"/>
              </a:rPr>
              <a:t>Deep public-sector blue + teal action accent • reusable header/search/cards/forms/upload/timeline/alerts • one clear primary action per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2 — Responsive Design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Built mobile-first, with the target of WCAG 2.2 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0c07a48b43713408322a256440c58991df3ac3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63040"/>
            <a:ext cx="5166360" cy="2011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463040"/>
            <a:ext cx="5166360" cy="201168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da124cf0fc7ecaba16e509a71809602829def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03320"/>
            <a:ext cx="5166360" cy="1920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" y="3703320"/>
            <a:ext cx="5166360" cy="192024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62472" y="1463040"/>
            <a:ext cx="548640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46504"/>
            <a:ext cx="448056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Accessibility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Semantic structure and logical heading hierarchy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Visible, associated form labels + contextual helper/error text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Predictable focus styling and descriptive actions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Contrast-aware status, alert and navigation states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Touch-friendly mobile controls and flexible layout</a:t>
            </a:r>
          </a:p>
          <a:p>
            <a:pPr>
              <a:spcAft>
                <a:spcPts val="500"/>
              </a:spcAft>
              <a:defRPr sz="1310">
                <a:solidFill>
                  <a:srgbClr val="172033"/>
                </a:solidFill>
                <a:latin typeface="Aptos"/>
              </a:defRPr>
            </a:pPr>
            <a:r>
              <a:t>• Representative manual checks recorded; full interactive audit left for later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937760"/>
            <a:ext cx="21945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BD7600"/>
                </a:solidFill>
                <a:latin typeface="Aptos"/>
              </a:rPr>
              <a:t>Important accuracy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30368"/>
            <a:ext cx="4572000" cy="49377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5D6B82"/>
                </a:solidFill>
                <a:latin typeface="Aptos"/>
              </a:rPr>
              <a:t>The reports explicitly avoid claiming full WCAG compliance before interactive and assistive-technology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3 — QA &amp;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Moving from design quality to repeatable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fc8a743a3fc636ab5fc0775a2003f528c483bb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3886200" cy="4434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481328"/>
            <a:ext cx="3886200" cy="443484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481328"/>
            <a:ext cx="667512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1737360"/>
            <a:ext cx="3749039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Aptos"/>
              </a:rPr>
              <a:t>QA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258568"/>
            <a:ext cx="5806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Five levels: Unit → Integration → System → UAT / End-to-End → Manual &amp; Accessibility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Requirement-to-test traceability across functional requirements and NFRs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Ten detailed scenarios covering sign-in, discovery, forms, uploads, submission, officer workflow, status/notifications, payments, RBAC/audit and accessibility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Automation strategy with Jest/RTL, Postman/Newman, Playwright/Cypress, k6/JMeter, SAST/dependency scans and axe/WAVE + NVDA/VoiceOver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Clear defect lifecycle and release exit criteria: zero open Critical defects; High defects fixed or formally 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5477256"/>
            <a:ext cx="123444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9487"/>
                </a:solidFill>
                <a:latin typeface="Aptos"/>
              </a:rPr>
              <a:t>Evidence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5422392"/>
            <a:ext cx="457200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20" b="0">
                <a:solidFill>
                  <a:srgbClr val="5D6B82"/>
                </a:solidFill>
                <a:latin typeface="Aptos"/>
              </a:rPr>
              <a:t>Prototype/UI observations are separated from execution that requires a live backend or staging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3 — Test Coverage &amp; Defect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A practical QA package, not just 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4864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365760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Aptos"/>
              </a:rPr>
              <a:t>Coverage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91440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detailed 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86000"/>
            <a:ext cx="68580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A2F54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286000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5D6B82"/>
                </a:solidFill>
                <a:latin typeface="Aptos"/>
              </a:rPr>
              <a:t>core citizen + officer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91440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test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17520"/>
            <a:ext cx="68580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A2F54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17520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5D6B82"/>
                </a:solidFill>
                <a:latin typeface="Aptos"/>
              </a:rPr>
              <a:t>unit through manual/accessibility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91440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traceability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49039"/>
            <a:ext cx="68580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A2F54"/>
                </a:solidFill>
                <a:latin typeface="Apto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3749039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5D6B82"/>
                </a:solidFill>
                <a:latin typeface="Aptos"/>
              </a:rPr>
              <a:t>each in-scope requirement mapped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91440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priority tiers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480560"/>
            <a:ext cx="68580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A2F54"/>
                </a:solidFill>
                <a:latin typeface="Aptos"/>
              </a:rPr>
              <a:t>P0–P3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4480560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5D6B82"/>
                </a:solidFill>
                <a:latin typeface="Aptos"/>
              </a:rPr>
              <a:t>immediate → future 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02352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9487"/>
                </a:solidFill>
                <a:latin typeface="Aptos"/>
              </a:rPr>
              <a:t>Defect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466344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172033"/>
                </a:solidFill>
                <a:latin typeface="Aptos"/>
              </a:rPr>
              <a:t>Every defect records the test case, reproduction steps, severity/priority, affected requirement or screen, and evidence. Critical/High issues block release under the stated exit criteria.</a:t>
            </a:r>
          </a:p>
        </p:txBody>
      </p:sp>
      <p:pic>
        <p:nvPicPr>
          <p:cNvPr id="24" name="Picture 23" descr="2d2032664ae03f0c8bd0b04bea8021f32e687f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212080" cy="27432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55080" y="1600200"/>
            <a:ext cx="5212080" cy="27432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90288"/>
            <a:ext cx="14630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19487"/>
                </a:solidFill>
                <a:latin typeface="Aptos"/>
              </a:rPr>
              <a:t>Example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19472"/>
            <a:ext cx="4663440" cy="6400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2F54"/>
                </a:solidFill>
                <a:latin typeface="Aptos"/>
              </a:rPr>
              <a:t>New → Triaged → Assigned → In Progress → Fixed / Retest → Closed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4 — Performance, Accessibility &amp; Security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An evidence-based final review of the shipped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646bd3f1b05962024c0c817ea1f9fa6a867e4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08760"/>
            <a:ext cx="7406640" cy="1234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508760"/>
            <a:ext cx="7406640" cy="123444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4a04d20c8b6fb6e3093daa3ec701345a1dd1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508760"/>
            <a:ext cx="3337560" cy="1737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11312" y="1508760"/>
            <a:ext cx="3337560" cy="173736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" y="3063240"/>
            <a:ext cx="10972800" cy="2743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Audit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22191"/>
            <a:ext cx="9875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Performance: source architecture review + production measurement framework (Core Web Vitals targets)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Accessibility: WCAG 2.2-oriented source/UI review, including reproducible contrast calculations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Security: OWASP Top 10:2025-aligned source review across authentication, authorization, input handling, uploads, headers and logging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Cross-check against Week 1–3 artifacts and the live project repository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Anything requiring infrastructure that did not exist was recorded as Planned / Not Verified — never claimed as passed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4 — Performance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Strong prototype architecture, but production tooling is still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4752"/>
            <a:ext cx="553212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31089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What was genuinely strong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663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Zero third-party network dependencies in the shipped prototype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No external fonts, analytics or trackers in the reviewed build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No image elements to create current image-loading overhead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Flexible CSS breakpoints at 900px and 640px support responsive reflow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No measured Lighthouse/PageSpeed score was claimed because no production-representative environment existed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01768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9487"/>
                </a:solidFill>
                <a:latin typeface="Aptos"/>
              </a:rPr>
              <a:t>Production targets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85232"/>
            <a:ext cx="4754880" cy="4023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A2F54"/>
                </a:solidFill>
                <a:latin typeface="Aptos"/>
              </a:rPr>
              <a:t>LCP ≤ 2.5s • INP ≤ 200ms • CLS ≤ 0.1 • TTFB ≤ 0.8s • &lt;500 KB/view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444752"/>
            <a:ext cx="52578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719072"/>
            <a:ext cx="25603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Key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212848"/>
            <a:ext cx="4526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Migrate toward the planned React + TypeScript production stack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Introduce a build pipeline with minification and dead-code elimination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Add long-lived caching / CDN rules once hosted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Enforce a performance budget in CI</a:t>
            </a:r>
          </a:p>
          <a:p>
            <a:pPr>
              <a:spcAft>
                <a:spcPts val="5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Collect real-user LCP / INP / CLS after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828032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BD7600"/>
                </a:solidFill>
                <a:latin typeface="Aptos"/>
              </a:rPr>
              <a:t>Bottom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120640"/>
            <a:ext cx="438912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A2F54"/>
                </a:solidFill>
                <a:latin typeface="Aptos"/>
              </a:rPr>
              <a:t>Good prototype architecture ≠ measured production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4 — Accessibility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A strong semantic/contrast base with concrete fixes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7417fbc309064cd2659339dc45cf51b1f8f27a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69280" cy="2788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417320"/>
            <a:ext cx="5669280" cy="278892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417320"/>
            <a:ext cx="5138928" cy="2788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91640"/>
            <a:ext cx="228600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Audit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84831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A2F54"/>
                </a:solidFill>
                <a:latin typeface="Aptos"/>
              </a:rPr>
              <a:t>20 WCAG-oriented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542032"/>
            <a:ext cx="3749039" cy="10515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20" b="0">
                <a:solidFill>
                  <a:srgbClr val="5D6B82"/>
                </a:solidFill>
                <a:latin typeface="Aptos"/>
              </a:rPr>
              <a:t>9 Meets / evidence present</a:t>
            </a:r>
            <a:br/>
            <a:r>
              <a:t>3 Partially meets</a:t>
            </a:r>
            <a:br/>
            <a:r>
              <a:t>4 Not verified</a:t>
            </a:r>
            <a:br/>
            <a:r>
              <a:t>4 Gaps 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703320"/>
            <a:ext cx="19202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9487"/>
                </a:solidFill>
                <a:latin typeface="Aptos"/>
              </a:rPr>
              <a:t>Main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041648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72033"/>
                </a:solidFill>
                <a:latin typeface="Aptos"/>
              </a:defRPr>
            </a:pPr>
            <a:r>
              <a:t>• required-field indication</a:t>
            </a:r>
          </a:p>
          <a:p>
            <a:pPr>
              <a:spcAft>
                <a:spcPts val="400"/>
              </a:spcAft>
              <a:defRPr sz="1230">
                <a:solidFill>
                  <a:srgbClr val="172033"/>
                </a:solidFill>
                <a:latin typeface="Aptos"/>
              </a:defRPr>
            </a:pPr>
            <a:r>
              <a:t>• aria-live / role=alert for errors</a:t>
            </a:r>
          </a:p>
          <a:p>
            <a:pPr>
              <a:spcAft>
                <a:spcPts val="400"/>
              </a:spcAft>
              <a:defRPr sz="1230">
                <a:solidFill>
                  <a:srgbClr val="172033"/>
                </a:solidFill>
                <a:latin typeface="Aptos"/>
              </a:defRPr>
            </a:pPr>
            <a:r>
              <a:t>• focus management on route change</a:t>
            </a:r>
          </a:p>
          <a:p>
            <a:pPr>
              <a:spcAft>
                <a:spcPts val="400"/>
              </a:spcAft>
              <a:defRPr sz="1230">
                <a:solidFill>
                  <a:srgbClr val="172033"/>
                </a:solidFill>
                <a:latin typeface="Aptos"/>
              </a:defRPr>
            </a:pPr>
            <a:r>
              <a:t>• skip link and complete keyboard/screen-reader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62272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19487"/>
                </a:solidFill>
                <a:latin typeface="Aptos"/>
              </a:rPr>
              <a:t>Contrast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00600"/>
            <a:ext cx="5440680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A2F54"/>
                </a:solidFill>
                <a:latin typeface="Aptos"/>
              </a:rPr>
              <a:t>All 8 checked high-use colour pairs passed WCAG AA thresholds in the source calculation.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59552"/>
            <a:ext cx="106070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60" b="1">
                <a:solidFill>
                  <a:srgbClr val="BD7600"/>
                </a:solidFill>
                <a:latin typeface="Aptos"/>
              </a:rPr>
              <a:t>Critical honesty point: the audit concludes the prototype is not WCAG 2.2 AA conformant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Week 4 — Security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Low current exploitability, high production-readiness risk if shipped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6f16d3fdf8bc5b2d58fb3e4d5091f28e90679c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971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417320"/>
            <a:ext cx="5303520" cy="297180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94960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91640"/>
            <a:ext cx="31089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Most important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76272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No real authentication logic — simulated login only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No role-based access control (RBAC) enforcement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User-typed search text reflected through innerHTML without escaping (SF-02)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No production security headers / CSP evidence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No real upload validation / storage controls yet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No audit logging implementation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81728"/>
            <a:ext cx="14630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19487"/>
                </a:solidFill>
                <a:latin typeface="Aptos"/>
              </a:rPr>
              <a:t>Positive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10912"/>
            <a:ext cx="530352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A2F54"/>
                </a:solidFill>
                <a:latin typeface="Aptos"/>
              </a:rPr>
              <a:t>No hardcoded secrets, keys or credentials were found in the reviewed 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681728"/>
            <a:ext cx="14630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19487"/>
                </a:solidFill>
                <a:latin typeface="Aptos"/>
              </a:rPr>
              <a:t>Priority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983480"/>
            <a:ext cx="5212080" cy="6583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70" b="1">
                <a:solidFill>
                  <a:srgbClr val="0A2F54"/>
                </a:solidFill>
                <a:latin typeface="Aptos"/>
              </a:rPr>
              <a:t>P0: quick accessibility fixes • P1: auth/RBAC/headers/input safety • P2: robustness • P3: infrastructure-dependent items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Cross-Dimension Findings &amp; Improvement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The audit connected performance, accessibility and security into one engineering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pic>
        <p:nvPicPr>
          <p:cNvPr id="8" name="Picture 7" descr="6277cba26f886b7678ac8dcaed6cb7d7003194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4937760" cy="2834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417320"/>
            <a:ext cx="4937760" cy="2834640"/>
          </a:xfrm>
          <a:prstGeom prst="rect">
            <a:avLst/>
          </a:prstGeom>
          <a:noFill/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1417320"/>
            <a:ext cx="5760720" cy="2834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356616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Why the findings interact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7627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70">
                <a:solidFill>
                  <a:srgbClr val="172033"/>
                </a:solidFill>
                <a:latin typeface="Aptos"/>
              </a:defRPr>
            </a:pPr>
            <a:r>
              <a:t>• Missing focus management hurts both accessibility and perceived usability.</a:t>
            </a:r>
          </a:p>
          <a:p>
            <a:pPr>
              <a:spcAft>
                <a:spcPts val="500"/>
              </a:spcAft>
              <a:defRPr sz="1270">
                <a:solidFill>
                  <a:srgbClr val="172033"/>
                </a:solidFill>
                <a:latin typeface="Aptos"/>
              </a:defRPr>
            </a:pPr>
            <a:r>
              <a:t>• Unsafe innerHTML interpolation is both a security and maintainability risk.</a:t>
            </a:r>
          </a:p>
          <a:p>
            <a:pPr>
              <a:spcAft>
                <a:spcPts val="500"/>
              </a:spcAft>
              <a:defRPr sz="1270">
                <a:solidFill>
                  <a:srgbClr val="172033"/>
                </a:solidFill>
                <a:latin typeface="Aptos"/>
              </a:defRPr>
            </a:pPr>
            <a:r>
              <a:t>• A future build pipeline can serve performance, SAST and dependency scanning together.</a:t>
            </a:r>
          </a:p>
          <a:p>
            <a:pPr>
              <a:spcAft>
                <a:spcPts val="500"/>
              </a:spcAft>
              <a:defRPr sz="1270">
                <a:solidFill>
                  <a:srgbClr val="172033"/>
                </a:solidFill>
                <a:latin typeface="Aptos"/>
              </a:defRPr>
            </a:pPr>
            <a:r>
              <a:t>• Upload validation affects both performance and 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26280"/>
            <a:ext cx="1097280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73168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19487"/>
                </a:solidFill>
                <a:latin typeface="Aptos"/>
              </a:rPr>
              <a:t>Recommended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84064"/>
            <a:ext cx="9966960" cy="49377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P0 → fix cheap accessibility issues now  |  P1 → lock authentication, RBAC, security headers and input handling before Alpha  |  P2/P3 → harden build, dependency scanning, observability and infrastructure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Technology, Process &amp; Skills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The internship strengthened both implementation thinking and engineering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20116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Technology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0A2F54"/>
                </a:solidFill>
                <a:latin typeface="Aptos"/>
              </a:rPr>
              <a:t>• HTML5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0A2F54"/>
                </a:solidFill>
                <a:latin typeface="Aptos"/>
              </a:rPr>
              <a:t>• 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9504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0A2F54"/>
                </a:solidFill>
                <a:latin typeface="Aptos"/>
              </a:rPr>
              <a:t>•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36976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0A2F54"/>
                </a:solidFill>
                <a:latin typeface="Aptos"/>
              </a:rPr>
              <a:t>• Flexbox /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8444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0A2F54"/>
                </a:solidFill>
                <a:latin typeface="Aptos"/>
              </a:rPr>
              <a:t>• Git &amp;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0A2F54"/>
                </a:solidFill>
                <a:latin typeface="Aptos"/>
              </a:rPr>
              <a:t>• Responsive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0A2F54"/>
                </a:solidFill>
                <a:latin typeface="Aptos"/>
              </a:rPr>
              <a:t>• Reusable UI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26864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0A2F54"/>
                </a:solidFill>
                <a:latin typeface="Aptos"/>
              </a:rPr>
              <a:t>• QA / test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74336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0A2F54"/>
                </a:solidFill>
                <a:latin typeface="Aptos"/>
              </a:rPr>
              <a:t>• WCAG 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2180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20" b="0">
                <a:solidFill>
                  <a:srgbClr val="0A2F54"/>
                </a:solidFill>
                <a:latin typeface="Aptos"/>
              </a:rPr>
              <a:t>• OWASP-aligned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8848" y="1417320"/>
            <a:ext cx="3401568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700784"/>
            <a:ext cx="21945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Engineering habits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240280"/>
            <a:ext cx="2743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Trace requirements to design and tests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Separate verified evidence from planned work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Design mobile-first and accessibility-first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Treat security and performance as product requirements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Document limitations instead of overstating readiness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417320"/>
            <a:ext cx="361188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700784"/>
            <a:ext cx="228600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Aptos"/>
              </a:rPr>
              <a:t>Project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240280"/>
            <a:ext cx="28803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Reusable e-governance blueprint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Complete representative citizen journey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High-fidelity responsive prototype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Executable QA strategy and test suite design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Evidence-based performance/accessibility/security audit</a:t>
            </a:r>
          </a:p>
          <a:p>
            <a:pPr>
              <a:spcAft>
                <a:spcPts val="500"/>
              </a:spcAft>
              <a:defRPr sz="1280">
                <a:solidFill>
                  <a:srgbClr val="172033"/>
                </a:solidFill>
                <a:latin typeface="Aptos"/>
              </a:defRPr>
            </a:pPr>
            <a:r>
              <a:t>• Prioritized roadmap toward production 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86400"/>
            <a:ext cx="109728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9487"/>
                </a:solidFill>
                <a:latin typeface="Aptos"/>
              </a:rPr>
              <a:t>Core 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394960"/>
            <a:ext cx="850392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A2F54"/>
                </a:solidFill>
                <a:latin typeface="Aptos"/>
              </a:rPr>
              <a:t>A polished prototype becomes valuable when every claim is traceable to evidence.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Final Internship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3327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D6B82"/>
                </a:solidFill>
                <a:latin typeface="Aptos"/>
              </a:rPr>
              <a:t>A complete, honest engineering progression — ready for the next implementation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310896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D6B82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005840" cy="45720"/>
          </a:xfrm>
          <a:prstGeom prst="rect">
            <a:avLst/>
          </a:prstGeom>
          <a:solidFill>
            <a:srgbClr val="11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8686800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D6B82"/>
                </a:solidFill>
                <a:latin typeface="Aptos"/>
              </a:rPr>
              <a:t>YuvaIntern • Junior Web Developer – E-Governance &amp;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44200" cy="4297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57200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What I completed across four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43891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948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395728"/>
            <a:ext cx="109728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A2F54"/>
                </a:solidFill>
                <a:latin typeface="Aptos"/>
              </a:rPr>
              <a:t>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95728"/>
            <a:ext cx="78181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40" b="0">
                <a:solidFill>
                  <a:srgbClr val="5D6B82"/>
                </a:solidFill>
                <a:latin typeface="Aptos"/>
              </a:rPr>
              <a:t>Requirements, personas, architecture, roadmap and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54096"/>
            <a:ext cx="43891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948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054096"/>
            <a:ext cx="109728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A2F54"/>
                </a:solidFill>
                <a:latin typeface="Aptos"/>
              </a:rP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54096"/>
            <a:ext cx="78181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40" b="0">
                <a:solidFill>
                  <a:srgbClr val="5D6B82"/>
                </a:solidFill>
                <a:latin typeface="Aptos"/>
              </a:rPr>
              <a:t>Responsive UI, reusable components, 10-screen citizen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12464"/>
            <a:ext cx="43891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948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712464"/>
            <a:ext cx="109728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A2F54"/>
                </a:solidFill>
                <a:latin typeface="Aptos"/>
              </a:rPr>
              <a:t>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12464"/>
            <a:ext cx="78181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40" b="0">
                <a:solidFill>
                  <a:srgbClr val="5D6B82"/>
                </a:solidFill>
                <a:latin typeface="Aptos"/>
              </a:rPr>
              <a:t>Test strategy, traceability, scenarios, defect lifecycle and release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70832"/>
            <a:ext cx="43891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948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370832"/>
            <a:ext cx="109728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A2F54"/>
                </a:solidFill>
                <a:latin typeface="Aptos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370832"/>
            <a:ext cx="78181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40" b="0">
                <a:solidFill>
                  <a:srgbClr val="5D6B82"/>
                </a:solidFill>
                <a:latin typeface="Aptos"/>
              </a:rPr>
              <a:t>Performance framework, WCAG-oriented review, OWASP-aligned security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66360"/>
            <a:ext cx="24688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BD7600"/>
                </a:solidFill>
                <a:latin typeface="Aptos"/>
              </a:rPr>
              <a:t>Production-readiness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566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40" b="1">
                <a:solidFill>
                  <a:srgbClr val="0A2F54"/>
                </a:solidFill>
                <a:latin typeface="Aptos"/>
              </a:rPr>
              <a:t>The project is a credible prototype-stage foundation, not a production-ready government service. The final audit gives a concrete path to Alpha.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4572000" cy="5943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48463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C6E2FF"/>
                </a:solidFill>
                <a:latin typeface="Aptos"/>
              </a:rPr>
              <a:t>Harshvardhan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6583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Junior Web Developer – E-Governance &amp; Digital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16352"/>
            <a:ext cx="539496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C8D9EA"/>
                </a:solidFill>
                <a:latin typeface="Aptos"/>
              </a:rPr>
              <a:t>YuvaIntern • 07 Aug 2026 – 04 Sep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474720" cy="3337560"/>
          </a:xfrm>
          <a:prstGeom prst="roundRect">
            <a:avLst/>
          </a:prstGeom>
          <a:solidFill>
            <a:srgbClr val="133D68"/>
          </a:solidFill>
          <a:ln w="8890">
            <a:solidFill>
              <a:srgbClr val="588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783080"/>
            <a:ext cx="274320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Certificate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2331720"/>
            <a:ext cx="2788920" cy="8229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E2EEFA"/>
                </a:solidFill>
                <a:latin typeface="Aptos"/>
              </a:rPr>
              <a:t>Junior Web Developer –</a:t>
            </a:r>
            <a:br/>
            <a:r>
              <a:t>E-Governance &amp; Digital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583" y="3383280"/>
            <a:ext cx="2788920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C8D9EA"/>
                </a:solidFill>
                <a:latin typeface="Aptos"/>
              </a:rPr>
              <a:t>Certificate No.</a:t>
            </a:r>
            <a:br/>
            <a:r>
              <a:t>YI/2026/184736/410723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4096512"/>
            <a:ext cx="278892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Issued: 04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640080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JanSeva Digital Service Platform (JSDSP)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897880"/>
            <a:ext cx="384048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50" b="0">
                <a:solidFill>
                  <a:srgbClr val="C8D9EA"/>
                </a:solidFill>
                <a:latin typeface="Aptos"/>
              </a:rPr>
              <a:t>4-Week Internship Completion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